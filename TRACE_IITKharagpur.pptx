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Arimo" charset="1" panose="020B0604020202020204"/>
      <p:regular r:id="rId12"/>
    </p:embeddedFont>
    <p:embeddedFont>
      <p:font typeface="Arimo Bold" charset="1" panose="020B0704020202020204"/>
      <p:regular r:id="rId13"/>
    </p:embeddedFont>
    <p:embeddedFont>
      <p:font typeface="Arimo Bold Italics" charset="1" panose="020B0704020202090204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2.jpeg" Type="http://schemas.openxmlformats.org/officeDocument/2006/relationships/image"/><Relationship Id="rId4" Target="../media/image7.jpeg" Type="http://schemas.openxmlformats.org/officeDocument/2006/relationships/image"/><Relationship Id="rId5" Target="../media/image8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https://drive.google.com/file/d/1QWwF-sLV9u5qilusE0eiT2KI9Xk5zfTs/view?usp=sharing" TargetMode="External" Type="http://schemas.openxmlformats.org/officeDocument/2006/relationships/hyperlink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547865" y="9644777"/>
            <a:ext cx="3597135" cy="184671"/>
            <a:chOff x="0" y="0"/>
            <a:chExt cx="4796180" cy="24622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796184" cy="246222"/>
            </a:xfrm>
            <a:custGeom>
              <a:avLst/>
              <a:gdLst/>
              <a:ahLst/>
              <a:cxnLst/>
              <a:rect r="r" b="b" t="t" l="l"/>
              <a:pathLst>
                <a:path h="246222" w="4796184">
                  <a:moveTo>
                    <a:pt x="0" y="0"/>
                  </a:moveTo>
                  <a:lnTo>
                    <a:pt x="4796184" y="0"/>
                  </a:lnTo>
                  <a:lnTo>
                    <a:pt x="4796184" y="246222"/>
                  </a:lnTo>
                  <a:lnTo>
                    <a:pt x="0" y="24622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9549" r="0" b="-329551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4796180" cy="2652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808080"/>
                  </a:solidFill>
                  <a:latin typeface="Arimo"/>
                  <a:ea typeface="Arimo"/>
                  <a:cs typeface="Arimo"/>
                  <a:sym typeface="Arimo"/>
                </a:rPr>
                <a:t>Copyright © 2025 Accenture. All rights reserved.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7528943" y="9644777"/>
            <a:ext cx="187557" cy="184671"/>
            <a:chOff x="0" y="0"/>
            <a:chExt cx="250076" cy="24622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50070" cy="246222"/>
            </a:xfrm>
            <a:custGeom>
              <a:avLst/>
              <a:gdLst/>
              <a:ahLst/>
              <a:cxnLst/>
              <a:rect r="r" b="b" t="t" l="l"/>
              <a:pathLst>
                <a:path h="246222" w="250070">
                  <a:moveTo>
                    <a:pt x="0" y="0"/>
                  </a:moveTo>
                  <a:lnTo>
                    <a:pt x="250070" y="0"/>
                  </a:lnTo>
                  <a:lnTo>
                    <a:pt x="250070" y="246222"/>
                  </a:lnTo>
                  <a:lnTo>
                    <a:pt x="0" y="24622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6331" t="0" r="-76333" b="-2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250076" cy="2652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808080"/>
                  </a:solidFill>
                  <a:latin typeface="Arimo"/>
                  <a:ea typeface="Arimo"/>
                  <a:cs typeface="Arimo"/>
                  <a:sym typeface="Arimo"/>
                </a:rPr>
                <a:t>‹#›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29761" y="9586236"/>
            <a:ext cx="274806" cy="301752"/>
            <a:chOff x="0" y="0"/>
            <a:chExt cx="366408" cy="40233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66395" cy="402336"/>
            </a:xfrm>
            <a:custGeom>
              <a:avLst/>
              <a:gdLst/>
              <a:ahLst/>
              <a:cxnLst/>
              <a:rect r="r" b="b" t="t" l="l"/>
              <a:pathLst>
                <a:path h="402336" w="366395">
                  <a:moveTo>
                    <a:pt x="0" y="402336"/>
                  </a:moveTo>
                  <a:lnTo>
                    <a:pt x="366395" y="253619"/>
                  </a:lnTo>
                  <a:lnTo>
                    <a:pt x="366395" y="148717"/>
                  </a:lnTo>
                  <a:lnTo>
                    <a:pt x="0" y="0"/>
                  </a:lnTo>
                  <a:lnTo>
                    <a:pt x="0" y="105029"/>
                  </a:lnTo>
                  <a:lnTo>
                    <a:pt x="236855" y="201168"/>
                  </a:lnTo>
                  <a:lnTo>
                    <a:pt x="0" y="297307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A100FF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757924" y="836381"/>
            <a:ext cx="1865728" cy="492766"/>
            <a:chOff x="0" y="0"/>
            <a:chExt cx="2487638" cy="657022"/>
          </a:xfrm>
        </p:grpSpPr>
        <p:sp>
          <p:nvSpPr>
            <p:cNvPr name="Freeform 12" id="12" descr="accenture logo"/>
            <p:cNvSpPr/>
            <p:nvPr/>
          </p:nvSpPr>
          <p:spPr>
            <a:xfrm flipH="false" flipV="false" rot="0">
              <a:off x="0" y="0"/>
              <a:ext cx="2487676" cy="656971"/>
            </a:xfrm>
            <a:custGeom>
              <a:avLst/>
              <a:gdLst/>
              <a:ahLst/>
              <a:cxnLst/>
              <a:rect r="r" b="b" t="t" l="l"/>
              <a:pathLst>
                <a:path h="656971" w="2487676">
                  <a:moveTo>
                    <a:pt x="0" y="0"/>
                  </a:moveTo>
                  <a:lnTo>
                    <a:pt x="2487676" y="0"/>
                  </a:lnTo>
                  <a:lnTo>
                    <a:pt x="2487676" y="656971"/>
                  </a:lnTo>
                  <a:lnTo>
                    <a:pt x="0" y="6569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12" r="1" b="-119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29" y="1924"/>
            <a:ext cx="18287971" cy="10285076"/>
            <a:chOff x="0" y="0"/>
            <a:chExt cx="24383962" cy="1371343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4384000" cy="13713461"/>
            </a:xfrm>
            <a:custGeom>
              <a:avLst/>
              <a:gdLst/>
              <a:ahLst/>
              <a:cxnLst/>
              <a:rect r="r" b="b" t="t" l="l"/>
              <a:pathLst>
                <a:path h="1371346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3461"/>
                  </a:lnTo>
                  <a:lnTo>
                    <a:pt x="0" y="13713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210" b="-3129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4576429" y="8295751"/>
            <a:ext cx="9135142" cy="625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80"/>
              </a:lnSpc>
            </a:pPr>
            <a:r>
              <a:rPr lang="en-US" b="true" sz="6000" spc="-225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AI reinvention made real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5788114" y="8985714"/>
            <a:ext cx="6711772" cy="528971"/>
            <a:chOff x="0" y="0"/>
            <a:chExt cx="8949030" cy="70529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949055" cy="705231"/>
            </a:xfrm>
            <a:custGeom>
              <a:avLst/>
              <a:gdLst/>
              <a:ahLst/>
              <a:cxnLst/>
              <a:rect r="r" b="b" t="t" l="l"/>
              <a:pathLst>
                <a:path h="705231" w="8949055">
                  <a:moveTo>
                    <a:pt x="0" y="0"/>
                  </a:moveTo>
                  <a:lnTo>
                    <a:pt x="8949055" y="0"/>
                  </a:lnTo>
                  <a:lnTo>
                    <a:pt x="8949055" y="705231"/>
                  </a:lnTo>
                  <a:lnTo>
                    <a:pt x="0" y="705231"/>
                  </a:lnTo>
                  <a:close/>
                </a:path>
              </a:pathLst>
            </a:custGeom>
            <a:solidFill>
              <a:srgbClr val="A100FF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5879554" y="8985494"/>
            <a:ext cx="6528892" cy="481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Accenture Innovation Challenge 2026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015336" y="1000592"/>
            <a:ext cx="1876844" cy="495700"/>
            <a:chOff x="0" y="0"/>
            <a:chExt cx="2502459" cy="66093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502408" cy="660908"/>
            </a:xfrm>
            <a:custGeom>
              <a:avLst/>
              <a:gdLst/>
              <a:ahLst/>
              <a:cxnLst/>
              <a:rect r="r" b="b" t="t" l="l"/>
              <a:pathLst>
                <a:path h="660908" w="2502408">
                  <a:moveTo>
                    <a:pt x="0" y="0"/>
                  </a:moveTo>
                  <a:lnTo>
                    <a:pt x="2502408" y="0"/>
                  </a:lnTo>
                  <a:lnTo>
                    <a:pt x="2502408" y="660908"/>
                  </a:lnTo>
                  <a:lnTo>
                    <a:pt x="0" y="6609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2" b="-3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078023" y="3757746"/>
            <a:ext cx="2165490" cy="2206981"/>
            <a:chOff x="0" y="0"/>
            <a:chExt cx="2887320" cy="294264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87345" cy="2942590"/>
            </a:xfrm>
            <a:custGeom>
              <a:avLst/>
              <a:gdLst/>
              <a:ahLst/>
              <a:cxnLst/>
              <a:rect r="r" b="b" t="t" l="l"/>
              <a:pathLst>
                <a:path h="2942590" w="2887345">
                  <a:moveTo>
                    <a:pt x="0" y="0"/>
                  </a:moveTo>
                  <a:lnTo>
                    <a:pt x="2887345" y="0"/>
                  </a:lnTo>
                  <a:lnTo>
                    <a:pt x="2887345" y="2942590"/>
                  </a:lnTo>
                  <a:lnTo>
                    <a:pt x="0" y="2942590"/>
                  </a:lnTo>
                  <a:close/>
                </a:path>
              </a:pathLst>
            </a:custGeom>
            <a:solidFill>
              <a:srgbClr val="A100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79074" y="3759870"/>
            <a:ext cx="2165490" cy="2206981"/>
            <a:chOff x="0" y="0"/>
            <a:chExt cx="2887320" cy="294264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87345" cy="2942590"/>
            </a:xfrm>
            <a:custGeom>
              <a:avLst/>
              <a:gdLst/>
              <a:ahLst/>
              <a:cxnLst/>
              <a:rect r="r" b="b" t="t" l="l"/>
              <a:pathLst>
                <a:path h="2942590" w="2887345">
                  <a:moveTo>
                    <a:pt x="0" y="0"/>
                  </a:moveTo>
                  <a:lnTo>
                    <a:pt x="2887345" y="0"/>
                  </a:lnTo>
                  <a:lnTo>
                    <a:pt x="2887345" y="2942590"/>
                  </a:lnTo>
                  <a:lnTo>
                    <a:pt x="0" y="2942590"/>
                  </a:lnTo>
                  <a:close/>
                </a:path>
              </a:pathLst>
            </a:custGeom>
            <a:solidFill>
              <a:srgbClr val="A100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692868" y="928554"/>
            <a:ext cx="17145000" cy="948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54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Team details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133989" y="3608661"/>
            <a:ext cx="2151326" cy="2206981"/>
            <a:chOff x="0" y="0"/>
            <a:chExt cx="2868435" cy="294264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868422" cy="2942590"/>
            </a:xfrm>
            <a:custGeom>
              <a:avLst/>
              <a:gdLst/>
              <a:ahLst/>
              <a:cxnLst/>
              <a:rect r="r" b="b" t="t" l="l"/>
              <a:pathLst>
                <a:path h="2942590" w="2868422">
                  <a:moveTo>
                    <a:pt x="0" y="0"/>
                  </a:moveTo>
                  <a:lnTo>
                    <a:pt x="2868422" y="0"/>
                  </a:lnTo>
                  <a:lnTo>
                    <a:pt x="2868422" y="2942590"/>
                  </a:lnTo>
                  <a:lnTo>
                    <a:pt x="0" y="29425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0924" r="0" b="-10924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3956428" y="3148374"/>
            <a:ext cx="4604113" cy="1395577"/>
            <a:chOff x="0" y="0"/>
            <a:chExt cx="6138818" cy="186076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138819" cy="1860768"/>
            </a:xfrm>
            <a:custGeom>
              <a:avLst/>
              <a:gdLst/>
              <a:ahLst/>
              <a:cxnLst/>
              <a:rect r="r" b="b" t="t" l="l"/>
              <a:pathLst>
                <a:path h="1860768" w="6138819">
                  <a:moveTo>
                    <a:pt x="0" y="0"/>
                  </a:moveTo>
                  <a:lnTo>
                    <a:pt x="6138819" y="0"/>
                  </a:lnTo>
                  <a:lnTo>
                    <a:pt x="6138819" y="1860768"/>
                  </a:lnTo>
                  <a:lnTo>
                    <a:pt x="0" y="18607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943" r="-3505" b="-10128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76200"/>
              <a:ext cx="6138818" cy="1784569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4174"/>
                </a:lnSpc>
              </a:pPr>
              <a:r>
                <a:rPr lang="en-US" sz="4295" b="true">
                  <a:solidFill>
                    <a:srgbClr val="A100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Mobashshir </a:t>
              </a:r>
            </a:p>
            <a:p>
              <a:pPr algn="l">
                <a:lnSpc>
                  <a:spcPts val="4174"/>
                </a:lnSpc>
              </a:pPr>
              <a:r>
                <a:rPr lang="en-US" b="true" sz="4295">
                  <a:solidFill>
                    <a:srgbClr val="A100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(Team Leader)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79074" y="6695713"/>
            <a:ext cx="2221859" cy="2206981"/>
            <a:chOff x="0" y="0"/>
            <a:chExt cx="2962478" cy="294264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962529" cy="2942590"/>
            </a:xfrm>
            <a:custGeom>
              <a:avLst/>
              <a:gdLst/>
              <a:ahLst/>
              <a:cxnLst/>
              <a:rect r="r" b="b" t="t" l="l"/>
              <a:pathLst>
                <a:path h="2942590" w="2962529">
                  <a:moveTo>
                    <a:pt x="0" y="0"/>
                  </a:moveTo>
                  <a:lnTo>
                    <a:pt x="2962529" y="0"/>
                  </a:lnTo>
                  <a:lnTo>
                    <a:pt x="2962529" y="2942590"/>
                  </a:lnTo>
                  <a:lnTo>
                    <a:pt x="0" y="2942590"/>
                  </a:lnTo>
                  <a:close/>
                </a:path>
              </a:pathLst>
            </a:custGeom>
            <a:solidFill>
              <a:srgbClr val="A100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2962478" cy="29616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Photo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 rot="5395200">
            <a:off x="5746442" y="5669880"/>
            <a:ext cx="6795116" cy="0"/>
          </a:xfrm>
          <a:prstGeom prst="line">
            <a:avLst/>
          </a:prstGeom>
          <a:ln cap="rnd" w="9525">
            <a:solidFill>
              <a:srgbClr val="46007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 rot="12660">
            <a:off x="3930072" y="4510688"/>
            <a:ext cx="2586552" cy="0"/>
          </a:xfrm>
          <a:prstGeom prst="line">
            <a:avLst/>
          </a:prstGeom>
          <a:ln cap="rnd" w="9525">
            <a:solidFill>
              <a:srgbClr val="46007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7" id="17"/>
          <p:cNvGrpSpPr/>
          <p:nvPr/>
        </p:nvGrpSpPr>
        <p:grpSpPr>
          <a:xfrm rot="0">
            <a:off x="4084082" y="6440759"/>
            <a:ext cx="4055745" cy="1216742"/>
            <a:chOff x="0" y="0"/>
            <a:chExt cx="5407660" cy="162232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407664" cy="1622321"/>
            </a:xfrm>
            <a:custGeom>
              <a:avLst/>
              <a:gdLst/>
              <a:ahLst/>
              <a:cxnLst/>
              <a:rect r="r" b="b" t="t" l="l"/>
              <a:pathLst>
                <a:path h="1622321" w="5407664">
                  <a:moveTo>
                    <a:pt x="0" y="0"/>
                  </a:moveTo>
                  <a:lnTo>
                    <a:pt x="5407664" y="0"/>
                  </a:lnTo>
                  <a:lnTo>
                    <a:pt x="5407664" y="1622321"/>
                  </a:lnTo>
                  <a:lnTo>
                    <a:pt x="0" y="162232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220" t="0" r="34237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28575"/>
              <a:ext cx="5407660" cy="1593747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4644"/>
                </a:lnSpc>
              </a:pPr>
              <a:r>
                <a:rPr lang="en-US" b="true" sz="4300">
                  <a:solidFill>
                    <a:srgbClr val="A100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Eisa Sh</a:t>
              </a:r>
              <a:r>
                <a:rPr lang="en-US" b="true" sz="4300">
                  <a:solidFill>
                    <a:srgbClr val="A100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aiju</a:t>
              </a:r>
            </a:p>
          </p:txBody>
        </p:sp>
      </p:grpSp>
      <p:sp>
        <p:nvSpPr>
          <p:cNvPr name="AutoShape 20" id="20"/>
          <p:cNvSpPr/>
          <p:nvPr/>
        </p:nvSpPr>
        <p:spPr>
          <a:xfrm rot="12660">
            <a:off x="4122344" y="7647975"/>
            <a:ext cx="2586552" cy="0"/>
          </a:xfrm>
          <a:prstGeom prst="line">
            <a:avLst/>
          </a:prstGeom>
          <a:ln cap="rnd" w="9525">
            <a:solidFill>
              <a:srgbClr val="46007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1" id="21"/>
          <p:cNvGrpSpPr/>
          <p:nvPr/>
        </p:nvGrpSpPr>
        <p:grpSpPr>
          <a:xfrm rot="0">
            <a:off x="10926023" y="3608661"/>
            <a:ext cx="2151326" cy="2206981"/>
            <a:chOff x="0" y="0"/>
            <a:chExt cx="2868435" cy="294264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868422" cy="2942590"/>
            </a:xfrm>
            <a:custGeom>
              <a:avLst/>
              <a:gdLst/>
              <a:ahLst/>
              <a:cxnLst/>
              <a:rect r="r" b="b" t="t" l="l"/>
              <a:pathLst>
                <a:path h="2942590" w="2868422">
                  <a:moveTo>
                    <a:pt x="0" y="0"/>
                  </a:moveTo>
                  <a:lnTo>
                    <a:pt x="2868422" y="0"/>
                  </a:lnTo>
                  <a:lnTo>
                    <a:pt x="2868422" y="2942590"/>
                  </a:lnTo>
                  <a:lnTo>
                    <a:pt x="0" y="29425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1085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3722124" y="3293946"/>
            <a:ext cx="3446527" cy="1216741"/>
            <a:chOff x="0" y="0"/>
            <a:chExt cx="4595369" cy="162232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595369" cy="1622321"/>
            </a:xfrm>
            <a:custGeom>
              <a:avLst/>
              <a:gdLst/>
              <a:ahLst/>
              <a:cxnLst/>
              <a:rect r="r" b="b" t="t" l="l"/>
              <a:pathLst>
                <a:path h="1622321" w="4595369">
                  <a:moveTo>
                    <a:pt x="0" y="0"/>
                  </a:moveTo>
                  <a:lnTo>
                    <a:pt x="4595369" y="0"/>
                  </a:lnTo>
                  <a:lnTo>
                    <a:pt x="4595369" y="1622321"/>
                  </a:lnTo>
                  <a:lnTo>
                    <a:pt x="0" y="162232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018" t="0" r="23427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28575"/>
              <a:ext cx="4595369" cy="1593747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4644"/>
                </a:lnSpc>
              </a:pPr>
              <a:r>
                <a:rPr lang="en-US" b="true" sz="4300">
                  <a:solidFill>
                    <a:srgbClr val="A100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Aadil Mulani</a:t>
              </a:r>
            </a:p>
          </p:txBody>
        </p:sp>
      </p:grpSp>
      <p:sp>
        <p:nvSpPr>
          <p:cNvPr name="AutoShape 26" id="26"/>
          <p:cNvSpPr/>
          <p:nvPr/>
        </p:nvSpPr>
        <p:spPr>
          <a:xfrm rot="12660">
            <a:off x="13722115" y="4510688"/>
            <a:ext cx="2586552" cy="0"/>
          </a:xfrm>
          <a:prstGeom prst="line">
            <a:avLst/>
          </a:prstGeom>
          <a:ln cap="rnd" w="9525">
            <a:solidFill>
              <a:srgbClr val="460073"/>
            </a:solidFill>
            <a:prstDash val="solid"/>
            <a:headEnd type="none" len="sm" w="sm"/>
            <a:tailEnd type="none" len="sm" w="sm"/>
          </a:ln>
        </p:spPr>
      </p:sp>
      <p:graphicFrame>
        <p:nvGraphicFramePr>
          <p:cNvPr name="Table 27" id="27"/>
          <p:cNvGraphicFramePr>
            <a:graphicFrameLocks noGrp="true"/>
          </p:cNvGraphicFramePr>
          <p:nvPr/>
        </p:nvGraphicFramePr>
        <p:xfrm>
          <a:off x="692870" y="1759536"/>
          <a:ext cx="17411700" cy="625475"/>
        </p:xfrm>
        <a:graphic>
          <a:graphicData uri="http://schemas.openxmlformats.org/drawingml/2006/table">
            <a:tbl>
              <a:tblPr/>
              <a:tblGrid>
                <a:gridCol w="6572574"/>
                <a:gridCol w="10839126"/>
              </a:tblGrid>
              <a:tr h="62547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A100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TEAM NAME: TRACE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E6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C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6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C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EC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6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6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</a:tr>
            </a:tbl>
          </a:graphicData>
        </a:graphic>
      </p:graphicFrame>
      <p:grpSp>
        <p:nvGrpSpPr>
          <p:cNvPr name="Group 28" id="28"/>
          <p:cNvGrpSpPr/>
          <p:nvPr/>
        </p:nvGrpSpPr>
        <p:grpSpPr>
          <a:xfrm rot="0">
            <a:off x="1164955" y="6542303"/>
            <a:ext cx="2151326" cy="2206981"/>
            <a:chOff x="0" y="0"/>
            <a:chExt cx="2868435" cy="294264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868422" cy="2942590"/>
            </a:xfrm>
            <a:custGeom>
              <a:avLst/>
              <a:gdLst/>
              <a:ahLst/>
              <a:cxnLst/>
              <a:rect r="r" b="b" t="t" l="l"/>
              <a:pathLst>
                <a:path h="2942590" w="2868422">
                  <a:moveTo>
                    <a:pt x="0" y="0"/>
                  </a:moveTo>
                  <a:lnTo>
                    <a:pt x="2868422" y="0"/>
                  </a:lnTo>
                  <a:lnTo>
                    <a:pt x="2868422" y="2942590"/>
                  </a:lnTo>
                  <a:lnTo>
                    <a:pt x="0" y="29425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29234"/>
              </a:stretch>
            </a:blip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7350740" y="9805187"/>
            <a:ext cx="395688" cy="237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000000">
                    <a:alpha val="40000"/>
                  </a:srgbClr>
                </a:solidFill>
                <a:latin typeface="Arimo"/>
                <a:ea typeface="Arimo"/>
                <a:cs typeface="Arimo"/>
                <a:sym typeface="Arimo"/>
              </a:rPr>
              <a:t>3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74888" y="9588617"/>
            <a:ext cx="9881464" cy="298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b="true" sz="1575" i="true">
                <a:solidFill>
                  <a:srgbClr val="000000"/>
                </a:solidFill>
                <a:latin typeface="Arimo Bold Italics"/>
                <a:ea typeface="Arimo Bold Italics"/>
                <a:cs typeface="Arimo Bold Italics"/>
                <a:sym typeface="Arimo Bold Italics"/>
              </a:rPr>
              <a:t>All fields are mandatory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4026284" y="4738821"/>
            <a:ext cx="3961143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College: IIT Kharagpur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Stream: Engineering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Year of graduation: 2028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748461" y="4996491"/>
            <a:ext cx="3961143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College: IIT Kharagpur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Stream: Engineering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Year of graduation: 2028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4178684" y="8082534"/>
            <a:ext cx="3961143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College: IIT Kharagpur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Stream: Engineering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Year of graduation: 2028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859" y="639148"/>
            <a:ext cx="18278283" cy="9647852"/>
          </a:xfrm>
          <a:custGeom>
            <a:avLst/>
            <a:gdLst/>
            <a:ahLst/>
            <a:cxnLst/>
            <a:rect r="r" b="b" t="t" l="l"/>
            <a:pathLst>
              <a:path h="9647852" w="18278283">
                <a:moveTo>
                  <a:pt x="0" y="0"/>
                </a:moveTo>
                <a:lnTo>
                  <a:pt x="18278282" y="0"/>
                </a:lnTo>
                <a:lnTo>
                  <a:pt x="18278282" y="9647852"/>
                </a:lnTo>
                <a:lnTo>
                  <a:pt x="0" y="96478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624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52500" y="123682"/>
            <a:ext cx="15012710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19"/>
              </a:lnSpc>
              <a:spcBef>
                <a:spcPct val="0"/>
              </a:spcBef>
            </a:pPr>
            <a:r>
              <a:rPr lang="en-US" b="true" sz="3099">
                <a:solidFill>
                  <a:srgbClr val="571584"/>
                </a:solidFill>
                <a:latin typeface="Arimo Bold"/>
                <a:ea typeface="Arimo Bold"/>
                <a:cs typeface="Arimo Bold"/>
                <a:sym typeface="Arimo Bold"/>
              </a:rPr>
              <a:t>Businesses can see WHAT changed but finding WHY still takes an investigation.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611624"/>
            <a:ext cx="18283141" cy="9678110"/>
          </a:xfrm>
          <a:custGeom>
            <a:avLst/>
            <a:gdLst/>
            <a:ahLst/>
            <a:cxnLst/>
            <a:rect r="r" b="b" t="t" l="l"/>
            <a:pathLst>
              <a:path h="9678110" w="18283141">
                <a:moveTo>
                  <a:pt x="0" y="0"/>
                </a:moveTo>
                <a:lnTo>
                  <a:pt x="18283141" y="0"/>
                </a:lnTo>
                <a:lnTo>
                  <a:pt x="18283141" y="9678110"/>
                </a:lnTo>
                <a:lnTo>
                  <a:pt x="0" y="96781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319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06231" y="125849"/>
            <a:ext cx="15886748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19"/>
              </a:lnSpc>
              <a:spcBef>
                <a:spcPct val="0"/>
              </a:spcBef>
            </a:pPr>
            <a:r>
              <a:rPr lang="en-US" b="true" sz="3099">
                <a:solidFill>
                  <a:srgbClr val="571584"/>
                </a:solidFill>
                <a:latin typeface="Arimo Bold"/>
                <a:ea typeface="Arimo Bold"/>
                <a:cs typeface="Arimo Bold"/>
                <a:sym typeface="Arimo Bold"/>
              </a:rPr>
              <a:t>TRACE: From Signal to Decision. The AI Engine That Investigates, Not Just Explains.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65775" y="332132"/>
            <a:ext cx="16997039" cy="786113"/>
          </a:xfrm>
          <a:custGeom>
            <a:avLst/>
            <a:gdLst/>
            <a:ahLst/>
            <a:cxnLst/>
            <a:rect r="r" b="b" t="t" l="l"/>
            <a:pathLst>
              <a:path h="786113" w="16997039">
                <a:moveTo>
                  <a:pt x="0" y="0"/>
                </a:moveTo>
                <a:lnTo>
                  <a:pt x="16997038" y="0"/>
                </a:lnTo>
                <a:lnTo>
                  <a:pt x="16997038" y="786113"/>
                </a:lnTo>
                <a:lnTo>
                  <a:pt x="0" y="7861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88103" y="5124450"/>
            <a:ext cx="15385256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19"/>
              </a:lnSpc>
              <a:spcBef>
                <a:spcPct val="0"/>
              </a:spcBef>
            </a:pPr>
            <a:r>
              <a:rPr lang="en-US" sz="3099" u="sng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  <a:hlinkClick r:id="rId3" tooltip="https://drive.google.com/file/d/1QWwF-sLV9u5qilusE0eiT2KI9Xk5zfTs/view?usp=sharing"/>
              </a:rPr>
              <a:t>https://drive.google.com/file/d/1QWwF-sLV9u5qilusE0eiT2KI9Xk5zfTs/view?usp=sharing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1A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4000500" y="-4000500"/>
            <a:ext cx="10287000" cy="18288000"/>
            <a:chOff x="0" y="0"/>
            <a:chExt cx="13716000" cy="24384000"/>
          </a:xfrm>
        </p:grpSpPr>
        <p:sp>
          <p:nvSpPr>
            <p:cNvPr name="Freeform 3" id="3" descr="A purple and black background  AI-generated content may be incorrect."/>
            <p:cNvSpPr/>
            <p:nvPr/>
          </p:nvSpPr>
          <p:spPr>
            <a:xfrm flipH="false" flipV="false" rot="0">
              <a:off x="0" y="0"/>
              <a:ext cx="13716000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88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547865" y="9644777"/>
            <a:ext cx="3597135" cy="184671"/>
            <a:chOff x="0" y="0"/>
            <a:chExt cx="4796180" cy="24622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796184" cy="246222"/>
            </a:xfrm>
            <a:custGeom>
              <a:avLst/>
              <a:gdLst/>
              <a:ahLst/>
              <a:cxnLst/>
              <a:rect r="r" b="b" t="t" l="l"/>
              <a:pathLst>
                <a:path h="246222" w="4796184">
                  <a:moveTo>
                    <a:pt x="0" y="0"/>
                  </a:moveTo>
                  <a:lnTo>
                    <a:pt x="4796184" y="0"/>
                  </a:lnTo>
                  <a:lnTo>
                    <a:pt x="4796184" y="246222"/>
                  </a:lnTo>
                  <a:lnTo>
                    <a:pt x="0" y="24622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9549" r="0" b="-32955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4796180" cy="2652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D9D9D9"/>
                  </a:solidFill>
                  <a:latin typeface="Arimo"/>
                  <a:ea typeface="Arimo"/>
                  <a:cs typeface="Arimo"/>
                  <a:sym typeface="Arimo"/>
                </a:rPr>
                <a:t>Copyright © 2026 Accenture. All rights reserved.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7528943" y="9644777"/>
            <a:ext cx="187557" cy="184671"/>
            <a:chOff x="0" y="0"/>
            <a:chExt cx="250076" cy="24622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50070" cy="246222"/>
            </a:xfrm>
            <a:custGeom>
              <a:avLst/>
              <a:gdLst/>
              <a:ahLst/>
              <a:cxnLst/>
              <a:rect r="r" b="b" t="t" l="l"/>
              <a:pathLst>
                <a:path h="246222" w="250070">
                  <a:moveTo>
                    <a:pt x="0" y="0"/>
                  </a:moveTo>
                  <a:lnTo>
                    <a:pt x="250070" y="0"/>
                  </a:lnTo>
                  <a:lnTo>
                    <a:pt x="250070" y="246222"/>
                  </a:lnTo>
                  <a:lnTo>
                    <a:pt x="0" y="24622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6331" t="0" r="-76333" b="-2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50076" cy="2652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D9D9D9"/>
                  </a:solidFill>
                  <a:latin typeface="Arimo"/>
                  <a:ea typeface="Arimo"/>
                  <a:cs typeface="Arimo"/>
                  <a:sym typeface="Arimo"/>
                </a:rPr>
                <a:t>‹#›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42401" y="9575997"/>
            <a:ext cx="274939" cy="301752"/>
            <a:chOff x="0" y="0"/>
            <a:chExt cx="366586" cy="40233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66649" cy="402336"/>
            </a:xfrm>
            <a:custGeom>
              <a:avLst/>
              <a:gdLst/>
              <a:ahLst/>
              <a:cxnLst/>
              <a:rect r="r" b="b" t="t" l="l"/>
              <a:pathLst>
                <a:path h="402336" w="366649">
                  <a:moveTo>
                    <a:pt x="0" y="402336"/>
                  </a:moveTo>
                  <a:lnTo>
                    <a:pt x="366649" y="253619"/>
                  </a:lnTo>
                  <a:lnTo>
                    <a:pt x="366649" y="148717"/>
                  </a:lnTo>
                  <a:lnTo>
                    <a:pt x="0" y="0"/>
                  </a:lnTo>
                  <a:lnTo>
                    <a:pt x="0" y="105029"/>
                  </a:lnTo>
                  <a:lnTo>
                    <a:pt x="236982" y="201168"/>
                  </a:lnTo>
                  <a:lnTo>
                    <a:pt x="0" y="297307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787023" y="5143500"/>
            <a:ext cx="7785783" cy="1477327"/>
            <a:chOff x="0" y="0"/>
            <a:chExt cx="10381044" cy="196977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381046" cy="1969770"/>
            </a:xfrm>
            <a:custGeom>
              <a:avLst/>
              <a:gdLst/>
              <a:ahLst/>
              <a:cxnLst/>
              <a:rect r="r" b="b" t="t" l="l"/>
              <a:pathLst>
                <a:path h="1969770" w="10381046">
                  <a:moveTo>
                    <a:pt x="0" y="0"/>
                  </a:moveTo>
                  <a:lnTo>
                    <a:pt x="10381046" y="0"/>
                  </a:lnTo>
                  <a:lnTo>
                    <a:pt x="10381046" y="1969770"/>
                  </a:lnTo>
                  <a:lnTo>
                    <a:pt x="0" y="19697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689" r="0" b="-52689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228600"/>
              <a:ext cx="10381044" cy="17411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519"/>
                </a:lnSpc>
              </a:pPr>
              <a:r>
                <a:rPr lang="en-US" sz="120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Thank you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DAHSdRQ0Zp4</dc:identifier>
  <dcterms:modified xsi:type="dcterms:W3CDTF">2011-08-01T06:04:30Z</dcterms:modified>
  <cp:revision>1</cp:revision>
  <dc:title>KPI alert</dc:title>
</cp:coreProperties>
</file>